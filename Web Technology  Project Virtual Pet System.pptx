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Times New Roman Bold" panose="02020803070505020304" pitchFamily="18" charset="0"/>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348"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343313" y="6659742"/>
          <a:ext cx="7601374" cy="2938464"/>
        </p:xfrm>
        <a:graphic>
          <a:graphicData uri="http://schemas.openxmlformats.org/drawingml/2006/table">
            <a:tbl>
              <a:tblPr/>
              <a:tblGrid>
                <a:gridCol w="1244751">
                  <a:extLst>
                    <a:ext uri="{9D8B030D-6E8A-4147-A177-3AD203B41FA5}">
                      <a16:colId xmlns:a16="http://schemas.microsoft.com/office/drawing/2014/main" val="20000"/>
                    </a:ext>
                  </a:extLst>
                </a:gridCol>
                <a:gridCol w="2282177">
                  <a:extLst>
                    <a:ext uri="{9D8B030D-6E8A-4147-A177-3AD203B41FA5}">
                      <a16:colId xmlns:a16="http://schemas.microsoft.com/office/drawing/2014/main" val="20001"/>
                    </a:ext>
                  </a:extLst>
                </a:gridCol>
                <a:gridCol w="4074446">
                  <a:extLst>
                    <a:ext uri="{9D8B030D-6E8A-4147-A177-3AD203B41FA5}">
                      <a16:colId xmlns:a16="http://schemas.microsoft.com/office/drawing/2014/main" val="20002"/>
                    </a:ext>
                  </a:extLst>
                </a:gridCol>
              </a:tblGrid>
              <a:tr h="734616">
                <a:tc>
                  <a:txBody>
                    <a:bodyPr/>
                    <a:lstStyle/>
                    <a:p>
                      <a:pPr algn="ctr">
                        <a:lnSpc>
                          <a:spcPts val="3240"/>
                        </a:lnSpc>
                        <a:defRPr/>
                      </a:pPr>
                      <a:r>
                        <a:rPr lang="en-US" sz="2700" b="1">
                          <a:solidFill>
                            <a:srgbClr val="000000"/>
                          </a:solidFill>
                          <a:latin typeface="Times New Roman Bold"/>
                          <a:ea typeface="Times New Roman Bold"/>
                          <a:cs typeface="Times New Roman Bold"/>
                          <a:sym typeface="Times New Roman Bold"/>
                        </a:rPr>
                        <a:t>Sr.No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b="1">
                          <a:solidFill>
                            <a:srgbClr val="000000"/>
                          </a:solidFill>
                          <a:latin typeface="Times New Roman Bold"/>
                          <a:ea typeface="Times New Roman Bold"/>
                          <a:cs typeface="Times New Roman Bold"/>
                          <a:sym typeface="Times New Roman Bold"/>
                        </a:rPr>
                        <a:t>PRN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b="1">
                          <a:solidFill>
                            <a:srgbClr val="000000"/>
                          </a:solidFill>
                          <a:latin typeface="Times New Roman Bold"/>
                          <a:ea typeface="Times New Roman Bold"/>
                          <a:cs typeface="Times New Roman Bold"/>
                          <a:sym typeface="Times New Roman Bold"/>
                        </a:rPr>
                        <a:t>Student Name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34616">
                <a:tc>
                  <a:txBody>
                    <a:bodyPr/>
                    <a:lstStyle/>
                    <a:p>
                      <a:pPr algn="ctr">
                        <a:lnSpc>
                          <a:spcPts val="3240"/>
                        </a:lnSpc>
                        <a:defRPr/>
                      </a:pPr>
                      <a:r>
                        <a:rPr lang="en-US" sz="2700">
                          <a:solidFill>
                            <a:srgbClr val="FFFFFF"/>
                          </a:solidFill>
                          <a:latin typeface="Times New Roman"/>
                          <a:ea typeface="Times New Roman"/>
                          <a:cs typeface="Times New Roman"/>
                          <a:sym typeface="Times New Roman"/>
                        </a:rPr>
                        <a:t>01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56082"/>
                    </a:solidFill>
                  </a:tcPr>
                </a:tc>
                <a:tc>
                  <a:txBody>
                    <a:bodyPr/>
                    <a:lstStyle/>
                    <a:p>
                      <a:pPr algn="ctr">
                        <a:lnSpc>
                          <a:spcPts val="3779"/>
                        </a:lnSpc>
                        <a:defRPr/>
                      </a:pPr>
                      <a:r>
                        <a:rPr lang="en-US" sz="2699">
                          <a:solidFill>
                            <a:srgbClr val="FFFFFF"/>
                          </a:solidFill>
                          <a:latin typeface="Times New Roman"/>
                          <a:ea typeface="Times New Roman"/>
                          <a:cs typeface="Times New Roman"/>
                          <a:sym typeface="Times New Roman"/>
                        </a:rPr>
                        <a:t>1012411001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56082"/>
                    </a:solidFill>
                  </a:tcPr>
                </a:tc>
                <a:tc>
                  <a:txBody>
                    <a:bodyPr/>
                    <a:lstStyle/>
                    <a:p>
                      <a:pPr algn="just">
                        <a:lnSpc>
                          <a:spcPts val="3779"/>
                        </a:lnSpc>
                        <a:defRPr/>
                      </a:pPr>
                      <a:r>
                        <a:rPr lang="en-US" sz="2699">
                          <a:solidFill>
                            <a:srgbClr val="FFFFFF"/>
                          </a:solidFill>
                          <a:latin typeface="Times New Roman"/>
                          <a:ea typeface="Times New Roman"/>
                          <a:cs typeface="Times New Roman"/>
                          <a:sym typeface="Times New Roman"/>
                        </a:rPr>
                        <a:t>Riddhi Narendra Chatorikar</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10001"/>
                  </a:ext>
                </a:extLst>
              </a:tr>
              <a:tr h="734616">
                <a:tc>
                  <a:txBody>
                    <a:bodyPr/>
                    <a:lstStyle/>
                    <a:p>
                      <a:pPr algn="ctr">
                        <a:lnSpc>
                          <a:spcPts val="3240"/>
                        </a:lnSpc>
                        <a:defRPr/>
                      </a:pPr>
                      <a:r>
                        <a:rPr lang="en-US" sz="2700">
                          <a:solidFill>
                            <a:srgbClr val="000000"/>
                          </a:solidFill>
                          <a:latin typeface="Times New Roman"/>
                          <a:ea typeface="Times New Roman"/>
                          <a:cs typeface="Times New Roman"/>
                          <a:sym typeface="Times New Roman"/>
                        </a:rPr>
                        <a:t>02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a:solidFill>
                            <a:srgbClr val="000000"/>
                          </a:solidFill>
                          <a:latin typeface="Times New Roman"/>
                          <a:ea typeface="Times New Roman"/>
                          <a:cs typeface="Times New Roman"/>
                          <a:sym typeface="Times New Roman"/>
                        </a:rPr>
                        <a:t>1012411009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just">
                        <a:lnSpc>
                          <a:spcPts val="3779"/>
                        </a:lnSpc>
                        <a:defRPr/>
                      </a:pPr>
                      <a:r>
                        <a:rPr lang="en-US" sz="2699">
                          <a:solidFill>
                            <a:srgbClr val="000000"/>
                          </a:solidFill>
                          <a:latin typeface="Times New Roman"/>
                          <a:ea typeface="Times New Roman"/>
                          <a:cs typeface="Times New Roman"/>
                          <a:sym typeface="Times New Roman"/>
                        </a:rPr>
                        <a:t>Mrudula Vijay Pimparwar</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4616">
                <a:tc>
                  <a:txBody>
                    <a:bodyPr/>
                    <a:lstStyle/>
                    <a:p>
                      <a:pPr algn="ctr">
                        <a:lnSpc>
                          <a:spcPts val="3240"/>
                        </a:lnSpc>
                        <a:defRPr/>
                      </a:pPr>
                      <a:r>
                        <a:rPr lang="en-US" sz="2700">
                          <a:solidFill>
                            <a:srgbClr val="FFFFFF"/>
                          </a:solidFill>
                          <a:latin typeface="Times New Roman"/>
                          <a:ea typeface="Times New Roman"/>
                          <a:cs typeface="Times New Roman"/>
                          <a:sym typeface="Times New Roman"/>
                        </a:rPr>
                        <a:t>03</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56082"/>
                    </a:solidFill>
                  </a:tcPr>
                </a:tc>
                <a:tc>
                  <a:txBody>
                    <a:bodyPr/>
                    <a:lstStyle/>
                    <a:p>
                      <a:pPr algn="ctr">
                        <a:lnSpc>
                          <a:spcPts val="3779"/>
                        </a:lnSpc>
                        <a:defRPr/>
                      </a:pPr>
                      <a:r>
                        <a:rPr lang="en-US" sz="2699">
                          <a:solidFill>
                            <a:srgbClr val="FFFFFF"/>
                          </a:solidFill>
                          <a:latin typeface="Times New Roman"/>
                          <a:ea typeface="Times New Roman"/>
                          <a:cs typeface="Times New Roman"/>
                          <a:sym typeface="Times New Roman"/>
                        </a:rPr>
                        <a:t>1012411012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56082"/>
                    </a:solidFill>
                  </a:tcPr>
                </a:tc>
                <a:tc>
                  <a:txBody>
                    <a:bodyPr/>
                    <a:lstStyle/>
                    <a:p>
                      <a:pPr algn="just">
                        <a:lnSpc>
                          <a:spcPts val="3779"/>
                        </a:lnSpc>
                        <a:defRPr/>
                      </a:pPr>
                      <a:r>
                        <a:rPr lang="en-US" sz="2699">
                          <a:solidFill>
                            <a:srgbClr val="FFFFFF"/>
                          </a:solidFill>
                          <a:latin typeface="Times New Roman"/>
                          <a:ea typeface="Times New Roman"/>
                          <a:cs typeface="Times New Roman"/>
                          <a:sym typeface="Times New Roman"/>
                        </a:rPr>
                        <a:t>Lobhas Mahesh Kulkarni</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10003"/>
                  </a:ext>
                </a:extLst>
              </a:tr>
            </a:tbl>
          </a:graphicData>
        </a:graphic>
      </p:graphicFrame>
      <p:sp>
        <p:nvSpPr>
          <p:cNvPr id="3" name="Freeform 3"/>
          <p:cNvSpPr/>
          <p:nvPr/>
        </p:nvSpPr>
        <p:spPr>
          <a:xfrm>
            <a:off x="6670997" y="290558"/>
            <a:ext cx="4946006" cy="1640192"/>
          </a:xfrm>
          <a:custGeom>
            <a:avLst/>
            <a:gdLst/>
            <a:ahLst/>
            <a:cxnLst/>
            <a:rect l="l" t="t" r="r" b="b"/>
            <a:pathLst>
              <a:path w="4946006" h="1640192">
                <a:moveTo>
                  <a:pt x="0" y="0"/>
                </a:moveTo>
                <a:lnTo>
                  <a:pt x="4946006" y="0"/>
                </a:lnTo>
                <a:lnTo>
                  <a:pt x="4946006" y="1640193"/>
                </a:lnTo>
                <a:lnTo>
                  <a:pt x="0" y="1640193"/>
                </a:lnTo>
                <a:lnTo>
                  <a:pt x="0" y="0"/>
                </a:lnTo>
                <a:close/>
              </a:path>
            </a:pathLst>
          </a:custGeom>
          <a:blipFill>
            <a:blip r:embed="rId2"/>
            <a:stretch>
              <a:fillRect/>
            </a:stretch>
          </a:blipFill>
        </p:spPr>
      </p:sp>
      <p:sp>
        <p:nvSpPr>
          <p:cNvPr id="4" name="TextBox 4"/>
          <p:cNvSpPr txBox="1"/>
          <p:nvPr/>
        </p:nvSpPr>
        <p:spPr>
          <a:xfrm>
            <a:off x="2932582" y="2197451"/>
            <a:ext cx="12422837" cy="1771650"/>
          </a:xfrm>
          <a:prstGeom prst="rect">
            <a:avLst/>
          </a:prstGeom>
        </p:spPr>
        <p:txBody>
          <a:bodyPr lIns="0" tIns="0" rIns="0" bIns="0" rtlCol="0" anchor="t">
            <a:spAutoFit/>
          </a:bodyPr>
          <a:lstStyle/>
          <a:p>
            <a:pPr algn="ctr">
              <a:lnSpc>
                <a:spcPts val="3960"/>
              </a:lnSpc>
            </a:pPr>
            <a:r>
              <a:rPr lang="en-US" sz="3300" b="1">
                <a:solidFill>
                  <a:srgbClr val="000000"/>
                </a:solidFill>
                <a:latin typeface="Times New Roman Bold"/>
                <a:ea typeface="Times New Roman Bold"/>
                <a:cs typeface="Times New Roman Bold"/>
                <a:sym typeface="Times New Roman Bold"/>
              </a:rPr>
              <a:t>DES Pune University, Pune</a:t>
            </a:r>
          </a:p>
          <a:p>
            <a:pPr algn="ctr">
              <a:lnSpc>
                <a:spcPts val="4500"/>
              </a:lnSpc>
            </a:pPr>
            <a:r>
              <a:rPr lang="en-US" sz="3750" b="1">
                <a:solidFill>
                  <a:srgbClr val="000000"/>
                </a:solidFill>
                <a:latin typeface="Times New Roman Bold"/>
                <a:ea typeface="Times New Roman Bold"/>
                <a:cs typeface="Times New Roman Bold"/>
                <a:sym typeface="Times New Roman Bold"/>
              </a:rPr>
              <a:t>School of Engineering and Technology</a:t>
            </a:r>
          </a:p>
          <a:p>
            <a:pPr algn="ctr">
              <a:lnSpc>
                <a:spcPts val="5400"/>
              </a:lnSpc>
            </a:pPr>
            <a:r>
              <a:rPr lang="en-US" sz="4500" b="1">
                <a:solidFill>
                  <a:srgbClr val="000000"/>
                </a:solidFill>
                <a:latin typeface="Times New Roman Bold"/>
                <a:ea typeface="Times New Roman Bold"/>
                <a:cs typeface="Times New Roman Bold"/>
                <a:sym typeface="Times New Roman Bold"/>
              </a:rPr>
              <a:t>Department of Computer Science and Engineering</a:t>
            </a:r>
          </a:p>
        </p:txBody>
      </p:sp>
      <p:sp>
        <p:nvSpPr>
          <p:cNvPr id="5" name="TextBox 5"/>
          <p:cNvSpPr txBox="1"/>
          <p:nvPr/>
        </p:nvSpPr>
        <p:spPr>
          <a:xfrm>
            <a:off x="2349101" y="4300671"/>
            <a:ext cx="13589798" cy="1400175"/>
          </a:xfrm>
          <a:prstGeom prst="rect">
            <a:avLst/>
          </a:prstGeom>
        </p:spPr>
        <p:txBody>
          <a:bodyPr lIns="0" tIns="0" rIns="0" bIns="0" rtlCol="0" anchor="t">
            <a:spAutoFit/>
          </a:bodyPr>
          <a:lstStyle/>
          <a:p>
            <a:pPr algn="ctr">
              <a:lnSpc>
                <a:spcPts val="5400"/>
              </a:lnSpc>
            </a:pPr>
            <a:r>
              <a:rPr lang="en-US" sz="4500" b="1">
                <a:solidFill>
                  <a:srgbClr val="000000"/>
                </a:solidFill>
                <a:latin typeface="Times New Roman Bold"/>
                <a:ea typeface="Times New Roman Bold"/>
                <a:cs typeface="Times New Roman Bold"/>
                <a:sym typeface="Times New Roman Bold"/>
              </a:rPr>
              <a:t>Title: </a:t>
            </a:r>
            <a:r>
              <a:rPr lang="en-US" sz="4500">
                <a:solidFill>
                  <a:srgbClr val="000000"/>
                </a:solidFill>
                <a:latin typeface="Times New Roman"/>
                <a:ea typeface="Times New Roman"/>
                <a:cs typeface="Times New Roman"/>
                <a:sym typeface="Times New Roman"/>
              </a:rPr>
              <a:t>A Persistent Browser-Based Virtual Pet System with Time-Aware State Management </a:t>
            </a:r>
          </a:p>
        </p:txBody>
      </p:sp>
      <p:sp>
        <p:nvSpPr>
          <p:cNvPr id="6" name="TextBox 6"/>
          <p:cNvSpPr txBox="1"/>
          <p:nvPr/>
        </p:nvSpPr>
        <p:spPr>
          <a:xfrm>
            <a:off x="8886246" y="5775382"/>
            <a:ext cx="515508" cy="600075"/>
          </a:xfrm>
          <a:prstGeom prst="rect">
            <a:avLst/>
          </a:prstGeom>
        </p:spPr>
        <p:txBody>
          <a:bodyPr lIns="0" tIns="0" rIns="0" bIns="0" rtlCol="0" anchor="t">
            <a:spAutoFit/>
          </a:bodyPr>
          <a:lstStyle/>
          <a:p>
            <a:pPr algn="ctr">
              <a:lnSpc>
                <a:spcPts val="4500"/>
              </a:lnSpc>
            </a:pPr>
            <a:r>
              <a:rPr lang="en-US" sz="3750" b="1">
                <a:solidFill>
                  <a:srgbClr val="000000"/>
                </a:solidFill>
                <a:latin typeface="Times New Roman Bold"/>
                <a:ea typeface="Times New Roman Bold"/>
                <a:cs typeface="Times New Roman Bold"/>
                <a:sym typeface="Times New Roman Bold"/>
              </a:rPr>
              <a:t>by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603304"/>
            <a:ext cx="10839200" cy="5927511"/>
          </a:xfrm>
          <a:prstGeom prst="rect">
            <a:avLst/>
          </a:prstGeom>
        </p:spPr>
        <p:txBody>
          <a:bodyPr lIns="0" tIns="0" rIns="0" bIns="0" rtlCol="0" anchor="t">
            <a:spAutoFit/>
          </a:bodyPr>
          <a:lstStyle/>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INTRODUCTION</a:t>
            </a:r>
          </a:p>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PROBLEM STATEMENT </a:t>
            </a:r>
          </a:p>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OBJECTIVE</a:t>
            </a:r>
          </a:p>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PROJECT SCOPE</a:t>
            </a:r>
          </a:p>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BLOCK DIAGRAM AND WORKING </a:t>
            </a:r>
          </a:p>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RESULTS</a:t>
            </a:r>
          </a:p>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CONCLUSION</a:t>
            </a:r>
          </a:p>
          <a:p>
            <a:pPr marL="1044603" lvl="1" indent="-522302" algn="l">
              <a:lnSpc>
                <a:spcPts val="5806"/>
              </a:lnSpc>
              <a:buAutoNum type="arabicPeriod"/>
            </a:pPr>
            <a:r>
              <a:rPr lang="en-US" sz="4838">
                <a:solidFill>
                  <a:srgbClr val="000000"/>
                </a:solidFill>
                <a:latin typeface="Times New Roman"/>
                <a:ea typeface="Times New Roman"/>
                <a:cs typeface="Times New Roman"/>
                <a:sym typeface="Times New Roman"/>
              </a:rPr>
              <a:t>REFERENCE</a:t>
            </a:r>
          </a:p>
        </p:txBody>
      </p:sp>
      <p:sp>
        <p:nvSpPr>
          <p:cNvPr id="3" name="TextBox 3"/>
          <p:cNvSpPr txBox="1"/>
          <p:nvPr/>
        </p:nvSpPr>
        <p:spPr>
          <a:xfrm>
            <a:off x="7914129" y="660283"/>
            <a:ext cx="2459742" cy="952500"/>
          </a:xfrm>
          <a:prstGeom prst="rect">
            <a:avLst/>
          </a:prstGeom>
        </p:spPr>
        <p:txBody>
          <a:bodyPr lIns="0" tIns="0" rIns="0" bIns="0" rtlCol="0" anchor="t">
            <a:spAutoFit/>
          </a:bodyPr>
          <a:lstStyle/>
          <a:p>
            <a:pPr algn="l">
              <a:lnSpc>
                <a:spcPts val="7200"/>
              </a:lnSpc>
            </a:pPr>
            <a:r>
              <a:rPr lang="en-US" sz="6000" b="1">
                <a:solidFill>
                  <a:srgbClr val="156082"/>
                </a:solidFill>
                <a:latin typeface="Times New Roman Bold"/>
                <a:ea typeface="Times New Roman Bold"/>
                <a:cs typeface="Times New Roman Bold"/>
                <a:sym typeface="Times New Roman Bold"/>
              </a:rPr>
              <a:t>INDEX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702" y="314325"/>
            <a:ext cx="4572595" cy="714375"/>
          </a:xfrm>
          <a:prstGeom prst="rect">
            <a:avLst/>
          </a:prstGeom>
        </p:spPr>
        <p:txBody>
          <a:bodyPr lIns="0" tIns="0" rIns="0" bIns="0" rtlCol="0" anchor="t">
            <a:spAutoFit/>
          </a:bodyPr>
          <a:lstStyle/>
          <a:p>
            <a:pPr algn="ctr">
              <a:lnSpc>
                <a:spcPts val="5400"/>
              </a:lnSpc>
              <a:spcBef>
                <a:spcPct val="0"/>
              </a:spcBef>
            </a:pPr>
            <a:r>
              <a:rPr lang="en-US" sz="4500" b="1">
                <a:solidFill>
                  <a:srgbClr val="000000"/>
                </a:solidFill>
                <a:latin typeface="Times New Roman Bold"/>
                <a:ea typeface="Times New Roman Bold"/>
                <a:cs typeface="Times New Roman Bold"/>
                <a:sym typeface="Times New Roman Bold"/>
              </a:rPr>
              <a:t>INTRODUCTION</a:t>
            </a:r>
          </a:p>
        </p:txBody>
      </p:sp>
      <p:sp>
        <p:nvSpPr>
          <p:cNvPr id="3" name="TextBox 3"/>
          <p:cNvSpPr txBox="1"/>
          <p:nvPr/>
        </p:nvSpPr>
        <p:spPr>
          <a:xfrm>
            <a:off x="921709" y="1211140"/>
            <a:ext cx="16444581" cy="8562975"/>
          </a:xfrm>
          <a:prstGeom prst="rect">
            <a:avLst/>
          </a:prstGeom>
        </p:spPr>
        <p:txBody>
          <a:bodyPr lIns="0" tIns="0" rIns="0" bIns="0" rtlCol="0" anchor="t">
            <a:spAutoFit/>
          </a:bodyPr>
          <a:lstStyle/>
          <a:p>
            <a:pPr algn="just">
              <a:lnSpc>
                <a:spcPts val="4823"/>
              </a:lnSpc>
              <a:spcBef>
                <a:spcPct val="0"/>
              </a:spcBef>
            </a:pPr>
            <a:r>
              <a:rPr lang="en-US" sz="4019">
                <a:solidFill>
                  <a:srgbClr val="000000"/>
                </a:solidFill>
                <a:latin typeface="Times New Roman"/>
                <a:ea typeface="Times New Roman"/>
                <a:cs typeface="Times New Roman"/>
                <a:sym typeface="Times New Roman"/>
              </a:rPr>
              <a:t>A Persistent Browser-Based Virtual Pet System with Time-Aware State Management</a:t>
            </a:r>
          </a:p>
          <a:p>
            <a:pPr algn="just">
              <a:lnSpc>
                <a:spcPts val="4823"/>
              </a:lnSpc>
              <a:spcBef>
                <a:spcPct val="0"/>
              </a:spcBef>
            </a:pPr>
            <a:endParaRPr lang="en-US" sz="4019">
              <a:solidFill>
                <a:srgbClr val="000000"/>
              </a:solidFill>
              <a:latin typeface="Times New Roman"/>
              <a:ea typeface="Times New Roman"/>
              <a:cs typeface="Times New Roman"/>
              <a:sym typeface="Times New Roman"/>
            </a:endParaRPr>
          </a:p>
          <a:p>
            <a:pPr marL="867850" lvl="1" indent="-433925" algn="just">
              <a:lnSpc>
                <a:spcPts val="4823"/>
              </a:lnSpc>
              <a:spcBef>
                <a:spcPct val="0"/>
              </a:spcBef>
              <a:buAutoNum type="arabicPeriod"/>
            </a:pPr>
            <a:r>
              <a:rPr lang="en-US" sz="4019">
                <a:solidFill>
                  <a:srgbClr val="000000"/>
                </a:solidFill>
                <a:latin typeface="Times New Roman"/>
                <a:ea typeface="Times New Roman"/>
                <a:cs typeface="Times New Roman"/>
                <a:sym typeface="Times New Roman"/>
              </a:rPr>
              <a:t>The project is an interactive browser-based virtual pet application developed using web technologies.</a:t>
            </a:r>
          </a:p>
          <a:p>
            <a:pPr marL="867850" lvl="1" indent="-433925" algn="just">
              <a:lnSpc>
                <a:spcPts val="4823"/>
              </a:lnSpc>
              <a:spcBef>
                <a:spcPct val="0"/>
              </a:spcBef>
              <a:buAutoNum type="arabicPeriod"/>
            </a:pPr>
            <a:r>
              <a:rPr lang="en-US" sz="4019">
                <a:solidFill>
                  <a:srgbClr val="000000"/>
                </a:solidFill>
                <a:latin typeface="Times New Roman"/>
                <a:ea typeface="Times New Roman"/>
                <a:cs typeface="Times New Roman"/>
                <a:sym typeface="Times New Roman"/>
              </a:rPr>
              <a:t>Users can adopt and care for a virtual pet through activities such as feeding, playing, sleeping and bathing.</a:t>
            </a:r>
          </a:p>
          <a:p>
            <a:pPr marL="867850" lvl="1" indent="-433925" algn="just">
              <a:lnSpc>
                <a:spcPts val="4823"/>
              </a:lnSpc>
              <a:spcBef>
                <a:spcPct val="0"/>
              </a:spcBef>
              <a:buAutoNum type="arabicPeriod"/>
            </a:pPr>
            <a:r>
              <a:rPr lang="en-US" sz="4019">
                <a:solidFill>
                  <a:srgbClr val="000000"/>
                </a:solidFill>
                <a:latin typeface="Times New Roman"/>
                <a:ea typeface="Times New Roman"/>
                <a:cs typeface="Times New Roman"/>
                <a:sym typeface="Times New Roman"/>
              </a:rPr>
              <a:t>The system tracks important pet attributes, including hunger, energy, happiness, cleanliness and health.</a:t>
            </a:r>
          </a:p>
          <a:p>
            <a:pPr marL="867850" lvl="1" indent="-433925" algn="just">
              <a:lnSpc>
                <a:spcPts val="4823"/>
              </a:lnSpc>
              <a:spcBef>
                <a:spcPct val="0"/>
              </a:spcBef>
              <a:buAutoNum type="arabicPeriod"/>
            </a:pPr>
            <a:r>
              <a:rPr lang="en-US" sz="4019">
                <a:solidFill>
                  <a:srgbClr val="000000"/>
                </a:solidFill>
                <a:latin typeface="Times New Roman"/>
                <a:ea typeface="Times New Roman"/>
                <a:cs typeface="Times New Roman"/>
                <a:sym typeface="Times New Roman"/>
              </a:rPr>
              <a:t>LocalStorage preserves the pet's state between browser sessions.</a:t>
            </a:r>
          </a:p>
          <a:p>
            <a:pPr marL="867850" lvl="1" indent="-433925" algn="just">
              <a:lnSpc>
                <a:spcPts val="4823"/>
              </a:lnSpc>
              <a:spcBef>
                <a:spcPct val="0"/>
              </a:spcBef>
              <a:buAutoNum type="arabicPeriod"/>
            </a:pPr>
            <a:r>
              <a:rPr lang="en-US" sz="4019">
                <a:solidFill>
                  <a:srgbClr val="000000"/>
                </a:solidFill>
                <a:latin typeface="Times New Roman"/>
                <a:ea typeface="Times New Roman"/>
                <a:cs typeface="Times New Roman"/>
                <a:sym typeface="Times New Roman"/>
              </a:rPr>
              <a:t>Time-aware state management allows the pet's condition to change based on the elapsed time between visits.</a:t>
            </a:r>
          </a:p>
          <a:p>
            <a:pPr algn="just">
              <a:lnSpc>
                <a:spcPts val="4823"/>
              </a:lnSpc>
              <a:spcBef>
                <a:spcPct val="0"/>
              </a:spcBef>
            </a:pPr>
            <a:endParaRPr lang="en-US" sz="4019">
              <a:solidFill>
                <a:srgbClr val="000000"/>
              </a:solidFill>
              <a:latin typeface="Times New Roman"/>
              <a:ea typeface="Times New Roman"/>
              <a:cs typeface="Times New Roman"/>
              <a:sym typeface="Times New Roman"/>
            </a:endParaRPr>
          </a:p>
          <a:p>
            <a:pPr algn="just">
              <a:lnSpc>
                <a:spcPts val="4823"/>
              </a:lnSpc>
              <a:spcBef>
                <a:spcPct val="0"/>
              </a:spcBef>
            </a:pPr>
            <a:r>
              <a:rPr lang="en-US" sz="4019" b="1">
                <a:solidFill>
                  <a:srgbClr val="000000"/>
                </a:solidFill>
                <a:latin typeface="Times New Roman Bold"/>
                <a:ea typeface="Times New Roman Bold"/>
                <a:cs typeface="Times New Roman Bold"/>
                <a:sym typeface="Times New Roman Bold"/>
              </a:rPr>
              <a:t>Technologies Used: </a:t>
            </a:r>
            <a:r>
              <a:rPr lang="en-US" sz="4019">
                <a:solidFill>
                  <a:srgbClr val="000000"/>
                </a:solidFill>
                <a:latin typeface="Times New Roman"/>
                <a:ea typeface="Times New Roman"/>
                <a:cs typeface="Times New Roman"/>
                <a:sym typeface="Times New Roman"/>
              </a:rPr>
              <a:t>HTML, CSS, JavaScript and LocalStorage.</a:t>
            </a:r>
          </a:p>
        </p:txBody>
      </p:sp>
      <p:sp>
        <p:nvSpPr>
          <p:cNvPr id="4" name="TextBox 4"/>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875672" y="657225"/>
            <a:ext cx="6536657" cy="714375"/>
          </a:xfrm>
          <a:prstGeom prst="rect">
            <a:avLst/>
          </a:prstGeom>
        </p:spPr>
        <p:txBody>
          <a:bodyPr lIns="0" tIns="0" rIns="0" bIns="0" rtlCol="0" anchor="t">
            <a:spAutoFit/>
          </a:bodyPr>
          <a:lstStyle/>
          <a:p>
            <a:pPr algn="ctr">
              <a:lnSpc>
                <a:spcPts val="5400"/>
              </a:lnSpc>
              <a:spcBef>
                <a:spcPct val="0"/>
              </a:spcBef>
            </a:pPr>
            <a:r>
              <a:rPr lang="en-US" sz="4500" b="1">
                <a:solidFill>
                  <a:srgbClr val="000000"/>
                </a:solidFill>
                <a:latin typeface="Times New Roman Bold"/>
                <a:ea typeface="Times New Roman Bold"/>
                <a:cs typeface="Times New Roman Bold"/>
                <a:sym typeface="Times New Roman Bold"/>
              </a:rPr>
              <a:t>PROBLEM STATEMENT </a:t>
            </a:r>
          </a:p>
        </p:txBody>
      </p:sp>
      <p:sp>
        <p:nvSpPr>
          <p:cNvPr id="3" name="TextBox 3"/>
          <p:cNvSpPr txBox="1"/>
          <p:nvPr/>
        </p:nvSpPr>
        <p:spPr>
          <a:xfrm>
            <a:off x="1007978" y="1644476"/>
            <a:ext cx="16272044" cy="7458075"/>
          </a:xfrm>
          <a:prstGeom prst="rect">
            <a:avLst/>
          </a:prstGeom>
        </p:spPr>
        <p:txBody>
          <a:bodyPr lIns="0" tIns="0" rIns="0" bIns="0" rtlCol="0" anchor="t">
            <a:spAutoFit/>
          </a:bodyPr>
          <a:lstStyle/>
          <a:p>
            <a:pPr algn="just">
              <a:lnSpc>
                <a:spcPts val="4943"/>
              </a:lnSpc>
              <a:spcBef>
                <a:spcPct val="0"/>
              </a:spcBef>
            </a:pPr>
            <a:r>
              <a:rPr lang="en-US" sz="4119">
                <a:solidFill>
                  <a:srgbClr val="000000"/>
                </a:solidFill>
                <a:latin typeface="Times New Roman"/>
                <a:ea typeface="Times New Roman"/>
                <a:cs typeface="Times New Roman"/>
                <a:sym typeface="Times New Roman"/>
              </a:rPr>
              <a:t>Traditional browser-based games may lose their progress when users leave or close the application. This reduces continuity and engagement.</a:t>
            </a:r>
          </a:p>
          <a:p>
            <a:pPr algn="just">
              <a:lnSpc>
                <a:spcPts val="4943"/>
              </a:lnSpc>
              <a:spcBef>
                <a:spcPct val="0"/>
              </a:spcBef>
            </a:pPr>
            <a:endParaRPr lang="en-US" sz="4119">
              <a:solidFill>
                <a:srgbClr val="000000"/>
              </a:solidFill>
              <a:latin typeface="Times New Roman"/>
              <a:ea typeface="Times New Roman"/>
              <a:cs typeface="Times New Roman"/>
              <a:sym typeface="Times New Roman"/>
            </a:endParaRPr>
          </a:p>
          <a:p>
            <a:pPr algn="just">
              <a:lnSpc>
                <a:spcPts val="4943"/>
              </a:lnSpc>
              <a:spcBef>
                <a:spcPct val="0"/>
              </a:spcBef>
            </a:pPr>
            <a:r>
              <a:rPr lang="en-US" sz="4119" b="1">
                <a:solidFill>
                  <a:srgbClr val="000000"/>
                </a:solidFill>
                <a:latin typeface="Times New Roman Bold"/>
                <a:ea typeface="Times New Roman Bold"/>
                <a:cs typeface="Times New Roman Bold"/>
                <a:sym typeface="Times New Roman Bold"/>
              </a:rPr>
              <a:t>Key Problems:</a:t>
            </a:r>
          </a:p>
          <a:p>
            <a:pPr marL="889507" lvl="1" indent="-444754" algn="just">
              <a:lnSpc>
                <a:spcPts val="4943"/>
              </a:lnSpc>
              <a:spcBef>
                <a:spcPct val="0"/>
              </a:spcBef>
              <a:buAutoNum type="arabicPeriod"/>
            </a:pPr>
            <a:r>
              <a:rPr lang="en-US" sz="4119">
                <a:solidFill>
                  <a:srgbClr val="000000"/>
                </a:solidFill>
                <a:latin typeface="Times New Roman"/>
                <a:ea typeface="Times New Roman"/>
                <a:cs typeface="Times New Roman"/>
                <a:sym typeface="Times New Roman"/>
              </a:rPr>
              <a:t>Loss of pet status and game progress between visits.</a:t>
            </a:r>
          </a:p>
          <a:p>
            <a:pPr marL="889507" lvl="1" indent="-444754" algn="just">
              <a:lnSpc>
                <a:spcPts val="4943"/>
              </a:lnSpc>
              <a:spcBef>
                <a:spcPct val="0"/>
              </a:spcBef>
              <a:buAutoNum type="arabicPeriod"/>
            </a:pPr>
            <a:r>
              <a:rPr lang="en-US" sz="4119">
                <a:solidFill>
                  <a:srgbClr val="000000"/>
                </a:solidFill>
                <a:latin typeface="Times New Roman"/>
                <a:ea typeface="Times New Roman"/>
                <a:cs typeface="Times New Roman"/>
                <a:sym typeface="Times New Roman"/>
              </a:rPr>
              <a:t>Lack of time-based changes in the pet's condition.</a:t>
            </a:r>
          </a:p>
          <a:p>
            <a:pPr marL="889507" lvl="1" indent="-444754" algn="just">
              <a:lnSpc>
                <a:spcPts val="4943"/>
              </a:lnSpc>
              <a:spcBef>
                <a:spcPct val="0"/>
              </a:spcBef>
              <a:buAutoNum type="arabicPeriod"/>
            </a:pPr>
            <a:r>
              <a:rPr lang="en-US" sz="4119">
                <a:solidFill>
                  <a:srgbClr val="000000"/>
                </a:solidFill>
                <a:latin typeface="Times New Roman"/>
                <a:ea typeface="Times New Roman"/>
                <a:cs typeface="Times New Roman"/>
                <a:sym typeface="Times New Roman"/>
              </a:rPr>
              <a:t>Limited interaction between user actions and pet attributes.</a:t>
            </a:r>
          </a:p>
          <a:p>
            <a:pPr marL="889507" lvl="1" indent="-444754" algn="just">
              <a:lnSpc>
                <a:spcPts val="4943"/>
              </a:lnSpc>
              <a:spcBef>
                <a:spcPct val="0"/>
              </a:spcBef>
              <a:buAutoNum type="arabicPeriod"/>
            </a:pPr>
            <a:r>
              <a:rPr lang="en-US" sz="4119">
                <a:solidFill>
                  <a:srgbClr val="000000"/>
                </a:solidFill>
                <a:latin typeface="Times New Roman"/>
                <a:ea typeface="Times New Roman"/>
                <a:cs typeface="Times New Roman"/>
                <a:sym typeface="Times New Roman"/>
              </a:rPr>
              <a:t>Need for an engaging and responsive user interface.</a:t>
            </a:r>
          </a:p>
          <a:p>
            <a:pPr algn="just">
              <a:lnSpc>
                <a:spcPts val="4943"/>
              </a:lnSpc>
              <a:spcBef>
                <a:spcPct val="0"/>
              </a:spcBef>
            </a:pPr>
            <a:endParaRPr lang="en-US" sz="4119">
              <a:solidFill>
                <a:srgbClr val="000000"/>
              </a:solidFill>
              <a:latin typeface="Times New Roman"/>
              <a:ea typeface="Times New Roman"/>
              <a:cs typeface="Times New Roman"/>
              <a:sym typeface="Times New Roman"/>
            </a:endParaRPr>
          </a:p>
          <a:p>
            <a:pPr algn="just">
              <a:lnSpc>
                <a:spcPts val="4943"/>
              </a:lnSpc>
              <a:spcBef>
                <a:spcPct val="0"/>
              </a:spcBef>
            </a:pPr>
            <a:r>
              <a:rPr lang="en-US" sz="4119" b="1">
                <a:solidFill>
                  <a:srgbClr val="000000"/>
                </a:solidFill>
                <a:latin typeface="Times New Roman Bold"/>
                <a:ea typeface="Times New Roman Bold"/>
                <a:cs typeface="Times New Roman Bold"/>
                <a:sym typeface="Times New Roman Bold"/>
              </a:rPr>
              <a:t>Proposed Solution: </a:t>
            </a:r>
            <a:r>
              <a:rPr lang="en-US" sz="4119">
                <a:solidFill>
                  <a:srgbClr val="000000"/>
                </a:solidFill>
                <a:latin typeface="Times New Roman"/>
                <a:ea typeface="Times New Roman"/>
                <a:cs typeface="Times New Roman"/>
                <a:sym typeface="Times New Roman"/>
              </a:rPr>
              <a:t>Develop a persistent virtual pet system that saves pet data, updates its condition over time and responds dynamically to user interactions.</a:t>
            </a:r>
          </a:p>
        </p:txBody>
      </p:sp>
      <p:sp>
        <p:nvSpPr>
          <p:cNvPr id="4" name="TextBox 4"/>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492566" y="457502"/>
            <a:ext cx="3302868" cy="714375"/>
          </a:xfrm>
          <a:prstGeom prst="rect">
            <a:avLst/>
          </a:prstGeom>
        </p:spPr>
        <p:txBody>
          <a:bodyPr lIns="0" tIns="0" rIns="0" bIns="0" rtlCol="0" anchor="t">
            <a:spAutoFit/>
          </a:bodyPr>
          <a:lstStyle/>
          <a:p>
            <a:pPr algn="ctr">
              <a:lnSpc>
                <a:spcPts val="5400"/>
              </a:lnSpc>
              <a:spcBef>
                <a:spcPct val="0"/>
              </a:spcBef>
            </a:pPr>
            <a:r>
              <a:rPr lang="en-US" sz="4500" b="1">
                <a:solidFill>
                  <a:srgbClr val="000000"/>
                </a:solidFill>
                <a:latin typeface="Times New Roman Bold"/>
                <a:ea typeface="Times New Roman Bold"/>
                <a:cs typeface="Times New Roman Bold"/>
                <a:sym typeface="Times New Roman Bold"/>
              </a:rPr>
              <a:t>OBJECTIVE</a:t>
            </a:r>
          </a:p>
        </p:txBody>
      </p:sp>
      <p:sp>
        <p:nvSpPr>
          <p:cNvPr id="3" name="TextBox 3"/>
          <p:cNvSpPr txBox="1"/>
          <p:nvPr/>
        </p:nvSpPr>
        <p:spPr>
          <a:xfrm>
            <a:off x="877974" y="1242060"/>
            <a:ext cx="16532051" cy="8186547"/>
          </a:xfrm>
          <a:prstGeom prst="rect">
            <a:avLst/>
          </a:prstGeom>
        </p:spPr>
        <p:txBody>
          <a:bodyPr lIns="0" tIns="0" rIns="0" bIns="0" rtlCol="0" anchor="t">
            <a:spAutoFit/>
          </a:bodyPr>
          <a:lstStyle/>
          <a:p>
            <a:pPr marL="928371" lvl="1" indent="-464186" algn="l">
              <a:lnSpc>
                <a:spcPts val="7224"/>
              </a:lnSpc>
              <a:spcBef>
                <a:spcPct val="0"/>
              </a:spcBef>
              <a:buAutoNum type="arabicPeriod"/>
            </a:pPr>
            <a:r>
              <a:rPr lang="en-US" sz="4300">
                <a:solidFill>
                  <a:srgbClr val="000000"/>
                </a:solidFill>
                <a:latin typeface="Times New Roman"/>
                <a:ea typeface="Times New Roman"/>
                <a:cs typeface="Times New Roman"/>
                <a:sym typeface="Times New Roman"/>
              </a:rPr>
              <a:t>To develop an interactive browser-based virtual pet application.</a:t>
            </a:r>
          </a:p>
          <a:p>
            <a:pPr marL="928371" lvl="1" indent="-464186" algn="l">
              <a:lnSpc>
                <a:spcPts val="7224"/>
              </a:lnSpc>
              <a:spcBef>
                <a:spcPct val="0"/>
              </a:spcBef>
              <a:buAutoNum type="arabicPeriod"/>
            </a:pPr>
            <a:r>
              <a:rPr lang="en-US" sz="4300">
                <a:solidFill>
                  <a:srgbClr val="000000"/>
                </a:solidFill>
                <a:latin typeface="Times New Roman"/>
                <a:ea typeface="Times New Roman"/>
                <a:cs typeface="Times New Roman"/>
                <a:sym typeface="Times New Roman"/>
              </a:rPr>
              <a:t>To implement pet-care activities such as feeding, playing, sleeping and bathing.</a:t>
            </a:r>
          </a:p>
          <a:p>
            <a:pPr marL="928371" lvl="1" indent="-464186" algn="l">
              <a:lnSpc>
                <a:spcPts val="7224"/>
              </a:lnSpc>
              <a:spcBef>
                <a:spcPct val="0"/>
              </a:spcBef>
              <a:buAutoNum type="arabicPeriod"/>
            </a:pPr>
            <a:r>
              <a:rPr lang="en-US" sz="4300">
                <a:solidFill>
                  <a:srgbClr val="000000"/>
                </a:solidFill>
                <a:latin typeface="Times New Roman"/>
                <a:ea typeface="Times New Roman"/>
                <a:cs typeface="Times New Roman"/>
                <a:sym typeface="Times New Roman"/>
              </a:rPr>
              <a:t>To maintain pet attributes and update them according to user actions.</a:t>
            </a:r>
          </a:p>
          <a:p>
            <a:pPr marL="928371" lvl="1" indent="-464186" algn="l">
              <a:lnSpc>
                <a:spcPts val="7224"/>
              </a:lnSpc>
              <a:spcBef>
                <a:spcPct val="0"/>
              </a:spcBef>
              <a:buAutoNum type="arabicPeriod"/>
            </a:pPr>
            <a:r>
              <a:rPr lang="en-US" sz="4300">
                <a:solidFill>
                  <a:srgbClr val="000000"/>
                </a:solidFill>
                <a:latin typeface="Times New Roman"/>
                <a:ea typeface="Times New Roman"/>
                <a:cs typeface="Times New Roman"/>
                <a:sym typeface="Times New Roman"/>
              </a:rPr>
              <a:t>To store and restore pet data using LocalStorage.</a:t>
            </a:r>
          </a:p>
          <a:p>
            <a:pPr marL="928371" lvl="1" indent="-464186" algn="l">
              <a:lnSpc>
                <a:spcPts val="7224"/>
              </a:lnSpc>
              <a:spcBef>
                <a:spcPct val="0"/>
              </a:spcBef>
              <a:buAutoNum type="arabicPeriod"/>
            </a:pPr>
            <a:r>
              <a:rPr lang="en-US" sz="4300">
                <a:solidFill>
                  <a:srgbClr val="000000"/>
                </a:solidFill>
                <a:latin typeface="Times New Roman"/>
                <a:ea typeface="Times New Roman"/>
                <a:cs typeface="Times New Roman"/>
                <a:sym typeface="Times New Roman"/>
              </a:rPr>
              <a:t>To implement time-aware state management based on elapsed time.</a:t>
            </a:r>
          </a:p>
          <a:p>
            <a:pPr marL="928371" lvl="1" indent="-464186" algn="l">
              <a:lnSpc>
                <a:spcPts val="7224"/>
              </a:lnSpc>
              <a:spcBef>
                <a:spcPct val="0"/>
              </a:spcBef>
              <a:buAutoNum type="arabicPeriod"/>
            </a:pPr>
            <a:r>
              <a:rPr lang="en-US" sz="4300">
                <a:solidFill>
                  <a:srgbClr val="000000"/>
                </a:solidFill>
                <a:latin typeface="Times New Roman"/>
                <a:ea typeface="Times New Roman"/>
                <a:cs typeface="Times New Roman"/>
                <a:sym typeface="Times New Roman"/>
              </a:rPr>
              <a:t>To provide a responsive and user-friendly interface.</a:t>
            </a:r>
          </a:p>
          <a:p>
            <a:pPr marL="928371" lvl="1" indent="-464186" algn="l">
              <a:lnSpc>
                <a:spcPts val="7224"/>
              </a:lnSpc>
              <a:spcBef>
                <a:spcPct val="0"/>
              </a:spcBef>
              <a:buAutoNum type="arabicPeriod"/>
            </a:pPr>
            <a:r>
              <a:rPr lang="en-US" sz="4300">
                <a:solidFill>
                  <a:srgbClr val="000000"/>
                </a:solidFill>
                <a:latin typeface="Times New Roman"/>
                <a:ea typeface="Times New Roman"/>
                <a:cs typeface="Times New Roman"/>
                <a:sym typeface="Times New Roman"/>
              </a:rPr>
              <a:t>To introduce progression through experience points (XP), coins, levels and achievements.</a:t>
            </a:r>
          </a:p>
        </p:txBody>
      </p:sp>
      <p:sp>
        <p:nvSpPr>
          <p:cNvPr id="4" name="TextBox 4"/>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748518" y="422072"/>
            <a:ext cx="4790963" cy="714375"/>
          </a:xfrm>
          <a:prstGeom prst="rect">
            <a:avLst/>
          </a:prstGeom>
        </p:spPr>
        <p:txBody>
          <a:bodyPr wrap="square" lIns="0" tIns="0" rIns="0" bIns="0" rtlCol="0" anchor="t">
            <a:spAutoFit/>
          </a:bodyPr>
          <a:lstStyle/>
          <a:p>
            <a:pPr algn="ctr">
              <a:lnSpc>
                <a:spcPts val="5400"/>
              </a:lnSpc>
              <a:spcBef>
                <a:spcPct val="0"/>
              </a:spcBef>
            </a:pPr>
            <a:r>
              <a:rPr lang="en-US" sz="4500" b="1" dirty="0">
                <a:solidFill>
                  <a:srgbClr val="000000"/>
                </a:solidFill>
                <a:latin typeface="Times New Roman Bold"/>
                <a:ea typeface="Times New Roman Bold"/>
                <a:cs typeface="Times New Roman Bold"/>
                <a:sym typeface="Times New Roman Bold"/>
              </a:rPr>
              <a:t>PROJECT SCOPE</a:t>
            </a:r>
          </a:p>
        </p:txBody>
      </p:sp>
      <p:grpSp>
        <p:nvGrpSpPr>
          <p:cNvPr id="3" name="Group 3"/>
          <p:cNvGrpSpPr/>
          <p:nvPr/>
        </p:nvGrpSpPr>
        <p:grpSpPr>
          <a:xfrm>
            <a:off x="520001" y="1278100"/>
            <a:ext cx="9495458" cy="8609418"/>
            <a:chOff x="0" y="-19050"/>
            <a:chExt cx="12660610" cy="11479225"/>
          </a:xfrm>
        </p:grpSpPr>
        <p:sp>
          <p:nvSpPr>
            <p:cNvPr id="4" name="TextBox 4"/>
            <p:cNvSpPr txBox="1"/>
            <p:nvPr/>
          </p:nvSpPr>
          <p:spPr>
            <a:xfrm>
              <a:off x="0" y="-19050"/>
              <a:ext cx="12660610" cy="4019550"/>
            </a:xfrm>
            <a:prstGeom prst="rect">
              <a:avLst/>
            </a:prstGeom>
          </p:spPr>
          <p:txBody>
            <a:bodyPr lIns="0" tIns="0" rIns="0" bIns="0" rtlCol="0" anchor="t">
              <a:spAutoFit/>
            </a:bodyPr>
            <a:lstStyle/>
            <a:p>
              <a:pPr algn="l">
                <a:lnSpc>
                  <a:spcPts val="3405"/>
                </a:lnSpc>
                <a:spcBef>
                  <a:spcPct val="0"/>
                </a:spcBef>
              </a:pPr>
              <a:r>
                <a:rPr lang="en-US" sz="2837" b="1">
                  <a:solidFill>
                    <a:srgbClr val="000000"/>
                  </a:solidFill>
                  <a:latin typeface="Times New Roman Bold"/>
                  <a:ea typeface="Times New Roman Bold"/>
                  <a:cs typeface="Times New Roman Bold"/>
                  <a:sym typeface="Times New Roman Bold"/>
                </a:rPr>
                <a:t>Core Functionalities</a:t>
              </a:r>
            </a:p>
            <a:p>
              <a:pPr marL="612711" lvl="1" indent="-306356" algn="l">
                <a:lnSpc>
                  <a:spcPts val="3405"/>
                </a:lnSpc>
                <a:spcBef>
                  <a:spcPct val="0"/>
                </a:spcBef>
                <a:buAutoNum type="arabicPeriod"/>
              </a:pPr>
              <a:r>
                <a:rPr lang="en-US" sz="2837">
                  <a:solidFill>
                    <a:srgbClr val="000000"/>
                  </a:solidFill>
                  <a:latin typeface="Times New Roman"/>
                  <a:ea typeface="Times New Roman"/>
                  <a:cs typeface="Times New Roman"/>
                  <a:sym typeface="Times New Roman"/>
                </a:rPr>
                <a:t>Virtual pet adoption and naming.</a:t>
              </a:r>
            </a:p>
            <a:p>
              <a:pPr marL="612711" lvl="1" indent="-306356" algn="l">
                <a:lnSpc>
                  <a:spcPts val="3405"/>
                </a:lnSpc>
                <a:spcBef>
                  <a:spcPct val="0"/>
                </a:spcBef>
                <a:buAutoNum type="arabicPeriod"/>
              </a:pPr>
              <a:r>
                <a:rPr lang="en-US" sz="2837">
                  <a:solidFill>
                    <a:srgbClr val="000000"/>
                  </a:solidFill>
                  <a:latin typeface="Times New Roman"/>
                  <a:ea typeface="Times New Roman"/>
                  <a:cs typeface="Times New Roman"/>
                  <a:sym typeface="Times New Roman"/>
                </a:rPr>
                <a:t>Monitoring hunger, energy, happiness, cleanliness and health.</a:t>
              </a:r>
            </a:p>
            <a:p>
              <a:pPr marL="612711" lvl="1" indent="-306356" algn="l">
                <a:lnSpc>
                  <a:spcPts val="3405"/>
                </a:lnSpc>
                <a:spcBef>
                  <a:spcPct val="0"/>
                </a:spcBef>
                <a:buAutoNum type="arabicPeriod"/>
              </a:pPr>
              <a:r>
                <a:rPr lang="en-US" sz="2837">
                  <a:solidFill>
                    <a:srgbClr val="000000"/>
                  </a:solidFill>
                  <a:latin typeface="Times New Roman"/>
                  <a:ea typeface="Times New Roman"/>
                  <a:cs typeface="Times New Roman"/>
                  <a:sym typeface="Times New Roman"/>
                </a:rPr>
                <a:t>Interactive pet-care actions.</a:t>
              </a:r>
            </a:p>
            <a:p>
              <a:pPr marL="612711" lvl="1" indent="-306356" algn="l">
                <a:lnSpc>
                  <a:spcPts val="3405"/>
                </a:lnSpc>
                <a:spcBef>
                  <a:spcPct val="0"/>
                </a:spcBef>
                <a:buAutoNum type="arabicPeriod"/>
              </a:pPr>
              <a:r>
                <a:rPr lang="en-US" sz="2837">
                  <a:solidFill>
                    <a:srgbClr val="000000"/>
                  </a:solidFill>
                  <a:latin typeface="Times New Roman"/>
                  <a:ea typeface="Times New Roman"/>
                  <a:cs typeface="Times New Roman"/>
                  <a:sym typeface="Times New Roman"/>
                </a:rPr>
                <a:t>Time-based updates to pet condition.</a:t>
              </a:r>
            </a:p>
            <a:p>
              <a:pPr marL="612711" lvl="1" indent="-306356" algn="l">
                <a:lnSpc>
                  <a:spcPts val="3405"/>
                </a:lnSpc>
                <a:spcBef>
                  <a:spcPct val="0"/>
                </a:spcBef>
                <a:buAutoNum type="arabicPeriod"/>
              </a:pPr>
              <a:r>
                <a:rPr lang="en-US" sz="2837">
                  <a:solidFill>
                    <a:srgbClr val="000000"/>
                  </a:solidFill>
                  <a:latin typeface="Times New Roman"/>
                  <a:ea typeface="Times New Roman"/>
                  <a:cs typeface="Times New Roman"/>
                  <a:sym typeface="Times New Roman"/>
                </a:rPr>
                <a:t>Persistent storage and restoration of game state.</a:t>
              </a:r>
            </a:p>
            <a:p>
              <a:pPr marL="612711" lvl="1" indent="-306356" algn="l">
                <a:lnSpc>
                  <a:spcPts val="3405"/>
                </a:lnSpc>
                <a:spcBef>
                  <a:spcPct val="0"/>
                </a:spcBef>
                <a:buAutoNum type="arabicPeriod"/>
              </a:pPr>
              <a:r>
                <a:rPr lang="en-US" sz="2837">
                  <a:solidFill>
                    <a:srgbClr val="000000"/>
                  </a:solidFill>
                  <a:latin typeface="Times New Roman"/>
                  <a:ea typeface="Times New Roman"/>
                  <a:cs typeface="Times New Roman"/>
                  <a:sym typeface="Times New Roman"/>
                </a:rPr>
                <a:t>XP, coins, levels and achievement-based progression.</a:t>
              </a:r>
            </a:p>
          </p:txBody>
        </p:sp>
        <p:sp>
          <p:nvSpPr>
            <p:cNvPr id="5" name="TextBox 5"/>
            <p:cNvSpPr txBox="1"/>
            <p:nvPr/>
          </p:nvSpPr>
          <p:spPr>
            <a:xfrm>
              <a:off x="32368" y="4189370"/>
              <a:ext cx="10483027" cy="4155839"/>
            </a:xfrm>
            <a:prstGeom prst="rect">
              <a:avLst/>
            </a:prstGeom>
          </p:spPr>
          <p:txBody>
            <a:bodyPr lIns="0" tIns="0" rIns="0" bIns="0" rtlCol="0" anchor="t">
              <a:spAutoFit/>
            </a:bodyPr>
            <a:lstStyle/>
            <a:p>
              <a:pPr algn="l">
                <a:lnSpc>
                  <a:spcPts val="3482"/>
                </a:lnSpc>
                <a:spcBef>
                  <a:spcPct val="0"/>
                </a:spcBef>
              </a:pPr>
              <a:r>
                <a:rPr lang="en-US" sz="2902" b="1" dirty="0">
                  <a:solidFill>
                    <a:srgbClr val="000000"/>
                  </a:solidFill>
                  <a:latin typeface="Times New Roman Bold"/>
                  <a:ea typeface="Times New Roman Bold"/>
                  <a:cs typeface="Times New Roman Bold"/>
                  <a:sym typeface="Times New Roman Bold"/>
                </a:rPr>
                <a:t>Technical Scope</a:t>
              </a:r>
            </a:p>
            <a:p>
              <a:pPr marL="626622" lvl="1" indent="-313311" algn="l">
                <a:lnSpc>
                  <a:spcPts val="3482"/>
                </a:lnSpc>
                <a:spcBef>
                  <a:spcPct val="0"/>
                </a:spcBef>
                <a:buAutoNum type="arabicPeriod"/>
              </a:pPr>
              <a:r>
                <a:rPr lang="en-US" sz="2902" dirty="0">
                  <a:solidFill>
                    <a:srgbClr val="000000"/>
                  </a:solidFill>
                  <a:latin typeface="Times New Roman"/>
                  <a:ea typeface="Times New Roman"/>
                  <a:cs typeface="Times New Roman"/>
                  <a:sym typeface="Times New Roman"/>
                </a:rPr>
                <a:t>Client-side web application.</a:t>
              </a:r>
            </a:p>
            <a:p>
              <a:pPr marL="626622" lvl="1" indent="-313311" algn="l">
                <a:lnSpc>
                  <a:spcPts val="3482"/>
                </a:lnSpc>
                <a:spcBef>
                  <a:spcPct val="0"/>
                </a:spcBef>
                <a:buAutoNum type="arabicPeriod"/>
              </a:pPr>
              <a:r>
                <a:rPr lang="en-US" sz="2902" dirty="0">
                  <a:solidFill>
                    <a:srgbClr val="000000"/>
                  </a:solidFill>
                  <a:latin typeface="Times New Roman"/>
                  <a:ea typeface="Times New Roman"/>
                  <a:cs typeface="Times New Roman"/>
                  <a:sym typeface="Times New Roman"/>
                </a:rPr>
                <a:t>HTML for structure.</a:t>
              </a:r>
            </a:p>
            <a:p>
              <a:pPr marL="626622" lvl="1" indent="-313311" algn="l">
                <a:lnSpc>
                  <a:spcPts val="3482"/>
                </a:lnSpc>
                <a:spcBef>
                  <a:spcPct val="0"/>
                </a:spcBef>
                <a:buAutoNum type="arabicPeriod"/>
              </a:pPr>
              <a:r>
                <a:rPr lang="en-US" sz="2902" dirty="0">
                  <a:solidFill>
                    <a:srgbClr val="000000"/>
                  </a:solidFill>
                  <a:latin typeface="Times New Roman"/>
                  <a:ea typeface="Times New Roman"/>
                  <a:cs typeface="Times New Roman"/>
                  <a:sym typeface="Times New Roman"/>
                </a:rPr>
                <a:t>CSS for styling and responsive layouts.</a:t>
              </a:r>
            </a:p>
            <a:p>
              <a:pPr marL="626622" lvl="1" indent="-313311" algn="l">
                <a:lnSpc>
                  <a:spcPts val="3482"/>
                </a:lnSpc>
                <a:spcBef>
                  <a:spcPct val="0"/>
                </a:spcBef>
                <a:buAutoNum type="arabicPeriod"/>
              </a:pPr>
              <a:r>
                <a:rPr lang="en-US" sz="2902" dirty="0">
                  <a:solidFill>
                    <a:srgbClr val="000000"/>
                  </a:solidFill>
                  <a:latin typeface="Times New Roman"/>
                  <a:ea typeface="Times New Roman"/>
                  <a:cs typeface="Times New Roman"/>
                  <a:sym typeface="Times New Roman"/>
                </a:rPr>
                <a:t>JavaScript for game logic and state management.</a:t>
              </a:r>
            </a:p>
            <a:p>
              <a:pPr marL="626622" lvl="1" indent="-313311" algn="l">
                <a:lnSpc>
                  <a:spcPts val="3482"/>
                </a:lnSpc>
                <a:spcBef>
                  <a:spcPct val="0"/>
                </a:spcBef>
                <a:buAutoNum type="arabicPeriod"/>
              </a:pPr>
              <a:r>
                <a:rPr lang="en-US" sz="2902" dirty="0">
                  <a:solidFill>
                    <a:srgbClr val="000000"/>
                  </a:solidFill>
                  <a:latin typeface="Times New Roman"/>
                  <a:ea typeface="Times New Roman"/>
                  <a:cs typeface="Times New Roman"/>
                  <a:sym typeface="Times New Roman"/>
                </a:rPr>
                <a:t>Local Storage for persistent data storage.</a:t>
              </a:r>
            </a:p>
          </p:txBody>
        </p:sp>
        <p:sp>
          <p:nvSpPr>
            <p:cNvPr id="6" name="TextBox 6"/>
            <p:cNvSpPr txBox="1"/>
            <p:nvPr/>
          </p:nvSpPr>
          <p:spPr>
            <a:xfrm>
              <a:off x="0" y="8520125"/>
              <a:ext cx="10311606" cy="2940050"/>
            </a:xfrm>
            <a:prstGeom prst="rect">
              <a:avLst/>
            </a:prstGeom>
          </p:spPr>
          <p:txBody>
            <a:bodyPr lIns="0" tIns="0" rIns="0" bIns="0" rtlCol="0" anchor="t">
              <a:spAutoFit/>
            </a:bodyPr>
            <a:lstStyle/>
            <a:p>
              <a:pPr algn="l">
                <a:lnSpc>
                  <a:spcPts val="3480"/>
                </a:lnSpc>
                <a:spcBef>
                  <a:spcPct val="0"/>
                </a:spcBef>
              </a:pPr>
              <a:r>
                <a:rPr lang="en-US" sz="2900" b="1" dirty="0">
                  <a:solidFill>
                    <a:srgbClr val="000000"/>
                  </a:solidFill>
                  <a:latin typeface="Times New Roman Bold"/>
                  <a:ea typeface="Times New Roman Bold"/>
                  <a:cs typeface="Times New Roman Bold"/>
                  <a:sym typeface="Times New Roman Bold"/>
                </a:rPr>
                <a:t>Future Scope</a:t>
              </a:r>
            </a:p>
            <a:p>
              <a:pPr marL="626111" lvl="1" indent="-313055" algn="l">
                <a:lnSpc>
                  <a:spcPts val="3480"/>
                </a:lnSpc>
                <a:spcBef>
                  <a:spcPct val="0"/>
                </a:spcBef>
                <a:buAutoNum type="arabicPeriod"/>
              </a:pPr>
              <a:r>
                <a:rPr lang="en-US" sz="2900" dirty="0">
                  <a:solidFill>
                    <a:srgbClr val="000000"/>
                  </a:solidFill>
                  <a:latin typeface="Times New Roman"/>
                  <a:ea typeface="Times New Roman"/>
                  <a:cs typeface="Times New Roman"/>
                  <a:sym typeface="Times New Roman"/>
                </a:rPr>
                <a:t>Multiple pet types and customization.</a:t>
              </a:r>
            </a:p>
            <a:p>
              <a:pPr marL="626111" lvl="1" indent="-313055" algn="l">
                <a:lnSpc>
                  <a:spcPts val="3480"/>
                </a:lnSpc>
                <a:spcBef>
                  <a:spcPct val="0"/>
                </a:spcBef>
                <a:buAutoNum type="arabicPeriod"/>
              </a:pPr>
              <a:r>
                <a:rPr lang="en-US" sz="2900" dirty="0">
                  <a:solidFill>
                    <a:srgbClr val="000000"/>
                  </a:solidFill>
                  <a:latin typeface="Times New Roman"/>
                  <a:ea typeface="Times New Roman"/>
                  <a:cs typeface="Times New Roman"/>
                  <a:sym typeface="Times New Roman"/>
                </a:rPr>
                <a:t>Advanced mini-games and rewards.</a:t>
              </a:r>
            </a:p>
            <a:p>
              <a:pPr marL="626111" lvl="1" indent="-313055" algn="l">
                <a:lnSpc>
                  <a:spcPts val="3480"/>
                </a:lnSpc>
                <a:spcBef>
                  <a:spcPct val="0"/>
                </a:spcBef>
                <a:buAutoNum type="arabicPeriod"/>
              </a:pPr>
              <a:r>
                <a:rPr lang="en-US" sz="2900" dirty="0">
                  <a:solidFill>
                    <a:srgbClr val="000000"/>
                  </a:solidFill>
                  <a:latin typeface="Times New Roman"/>
                  <a:ea typeface="Times New Roman"/>
                  <a:cs typeface="Times New Roman"/>
                  <a:sym typeface="Times New Roman"/>
                </a:rPr>
                <a:t>User accounts and cloud-based synchronization.</a:t>
              </a:r>
            </a:p>
            <a:p>
              <a:pPr marL="626111" lvl="1" indent="-313055" algn="l">
                <a:lnSpc>
                  <a:spcPts val="3480"/>
                </a:lnSpc>
                <a:spcBef>
                  <a:spcPct val="0"/>
                </a:spcBef>
                <a:buAutoNum type="arabicPeriod"/>
              </a:pPr>
              <a:r>
                <a:rPr lang="en-US" sz="2900" dirty="0">
                  <a:solidFill>
                    <a:srgbClr val="000000"/>
                  </a:solidFill>
                  <a:latin typeface="Times New Roman"/>
                  <a:ea typeface="Times New Roman"/>
                  <a:cs typeface="Times New Roman"/>
                  <a:sym typeface="Times New Roman"/>
                </a:rPr>
                <a:t>Notifications and smarter pet </a:t>
              </a:r>
              <a:r>
                <a:rPr lang="en-US" sz="2900" dirty="0" err="1">
                  <a:solidFill>
                    <a:srgbClr val="000000"/>
                  </a:solidFill>
                  <a:latin typeface="Times New Roman"/>
                  <a:ea typeface="Times New Roman"/>
                  <a:cs typeface="Times New Roman"/>
                  <a:sym typeface="Times New Roman"/>
                </a:rPr>
                <a:t>behaviour</a:t>
              </a:r>
              <a:r>
                <a:rPr lang="en-US" sz="2900" dirty="0">
                  <a:solidFill>
                    <a:srgbClr val="000000"/>
                  </a:solidFill>
                  <a:latin typeface="Times New Roman"/>
                  <a:ea typeface="Times New Roman"/>
                  <a:cs typeface="Times New Roman"/>
                  <a:sym typeface="Times New Roman"/>
                </a:rPr>
                <a:t>.</a:t>
              </a:r>
            </a:p>
          </p:txBody>
        </p:sp>
      </p:grpSp>
      <p:sp>
        <p:nvSpPr>
          <p:cNvPr id="7" name="Freeform 7"/>
          <p:cNvSpPr/>
          <p:nvPr/>
        </p:nvSpPr>
        <p:spPr>
          <a:xfrm>
            <a:off x="10511658" y="2372608"/>
            <a:ext cx="7041126" cy="6434688"/>
          </a:xfrm>
          <a:custGeom>
            <a:avLst/>
            <a:gdLst/>
            <a:ahLst/>
            <a:cxnLst/>
            <a:rect l="l" t="t" r="r" b="b"/>
            <a:pathLst>
              <a:path w="7041126" h="6434688">
                <a:moveTo>
                  <a:pt x="0" y="0"/>
                </a:moveTo>
                <a:lnTo>
                  <a:pt x="7041126" y="0"/>
                </a:lnTo>
                <a:lnTo>
                  <a:pt x="7041126" y="6434688"/>
                </a:lnTo>
                <a:lnTo>
                  <a:pt x="0" y="6434688"/>
                </a:lnTo>
                <a:lnTo>
                  <a:pt x="0" y="0"/>
                </a:lnTo>
                <a:close/>
              </a:path>
            </a:pathLst>
          </a:custGeom>
          <a:blipFill>
            <a:blip r:embed="rId2"/>
            <a:stretch>
              <a:fillRect/>
            </a:stretch>
          </a:blipFill>
        </p:spPr>
      </p:sp>
      <p:sp>
        <p:nvSpPr>
          <p:cNvPr id="8" name="TextBox 8"/>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41150" y="314325"/>
            <a:ext cx="8805700" cy="714375"/>
          </a:xfrm>
          <a:prstGeom prst="rect">
            <a:avLst/>
          </a:prstGeom>
        </p:spPr>
        <p:txBody>
          <a:bodyPr lIns="0" tIns="0" rIns="0" bIns="0" rtlCol="0" anchor="t">
            <a:spAutoFit/>
          </a:bodyPr>
          <a:lstStyle/>
          <a:p>
            <a:pPr algn="l">
              <a:lnSpc>
                <a:spcPts val="5400"/>
              </a:lnSpc>
              <a:spcBef>
                <a:spcPct val="0"/>
              </a:spcBef>
            </a:pPr>
            <a:r>
              <a:rPr lang="en-US" sz="4500" b="1">
                <a:solidFill>
                  <a:srgbClr val="000000"/>
                </a:solidFill>
                <a:latin typeface="Times New Roman Bold"/>
                <a:ea typeface="Times New Roman Bold"/>
                <a:cs typeface="Times New Roman Bold"/>
                <a:sym typeface="Times New Roman Bold"/>
              </a:rPr>
              <a:t>BLOCK DIAGRAM &amp; WORKING</a:t>
            </a:r>
          </a:p>
        </p:txBody>
      </p:sp>
      <p:sp>
        <p:nvSpPr>
          <p:cNvPr id="3" name="Freeform 3"/>
          <p:cNvSpPr/>
          <p:nvPr/>
        </p:nvSpPr>
        <p:spPr>
          <a:xfrm>
            <a:off x="2661217" y="1192667"/>
            <a:ext cx="12965565" cy="8643710"/>
          </a:xfrm>
          <a:custGeom>
            <a:avLst/>
            <a:gdLst/>
            <a:ahLst/>
            <a:cxnLst/>
            <a:rect l="l" t="t" r="r" b="b"/>
            <a:pathLst>
              <a:path w="12965565" h="8643710">
                <a:moveTo>
                  <a:pt x="0" y="0"/>
                </a:moveTo>
                <a:lnTo>
                  <a:pt x="12965566" y="0"/>
                </a:lnTo>
                <a:lnTo>
                  <a:pt x="12965566" y="8643710"/>
                </a:lnTo>
                <a:lnTo>
                  <a:pt x="0" y="8643710"/>
                </a:lnTo>
                <a:lnTo>
                  <a:pt x="0" y="0"/>
                </a:lnTo>
                <a:close/>
              </a:path>
            </a:pathLst>
          </a:custGeom>
          <a:blipFill>
            <a:blip r:embed="rId2"/>
            <a:stretch>
              <a:fillRect/>
            </a:stretch>
          </a:blipFill>
        </p:spPr>
      </p:sp>
      <p:sp>
        <p:nvSpPr>
          <p:cNvPr id="4" name="TextBox 4"/>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867873" y="525340"/>
            <a:ext cx="2552254" cy="714375"/>
          </a:xfrm>
          <a:prstGeom prst="rect">
            <a:avLst/>
          </a:prstGeom>
        </p:spPr>
        <p:txBody>
          <a:bodyPr lIns="0" tIns="0" rIns="0" bIns="0" rtlCol="0" anchor="t">
            <a:spAutoFit/>
          </a:bodyPr>
          <a:lstStyle/>
          <a:p>
            <a:pPr algn="ctr">
              <a:lnSpc>
                <a:spcPts val="5400"/>
              </a:lnSpc>
              <a:spcBef>
                <a:spcPct val="0"/>
              </a:spcBef>
            </a:pPr>
            <a:r>
              <a:rPr lang="en-US" sz="4500" b="1" dirty="0">
                <a:solidFill>
                  <a:srgbClr val="000000"/>
                </a:solidFill>
                <a:latin typeface="Times New Roman Bold"/>
                <a:ea typeface="Times New Roman Bold"/>
                <a:cs typeface="Times New Roman Bold"/>
                <a:sym typeface="Times New Roman Bold"/>
              </a:rPr>
              <a:t>RESULTS</a:t>
            </a:r>
          </a:p>
        </p:txBody>
      </p:sp>
      <p:sp>
        <p:nvSpPr>
          <p:cNvPr id="3" name="TextBox 3"/>
          <p:cNvSpPr txBox="1"/>
          <p:nvPr/>
        </p:nvSpPr>
        <p:spPr>
          <a:xfrm>
            <a:off x="2313544" y="1644859"/>
            <a:ext cx="13660913" cy="6892507"/>
          </a:xfrm>
          <a:prstGeom prst="rect">
            <a:avLst/>
          </a:prstGeom>
        </p:spPr>
        <p:txBody>
          <a:bodyPr lIns="0" tIns="0" rIns="0" bIns="0" rtlCol="0" anchor="t">
            <a:spAutoFit/>
          </a:bodyPr>
          <a:lstStyle/>
          <a:p>
            <a:pPr algn="l">
              <a:lnSpc>
                <a:spcPts val="6055"/>
              </a:lnSpc>
              <a:spcBef>
                <a:spcPct val="0"/>
              </a:spcBef>
            </a:pPr>
            <a:r>
              <a:rPr lang="en-US" sz="4325" b="1">
                <a:solidFill>
                  <a:srgbClr val="000000"/>
                </a:solidFill>
                <a:latin typeface="Times New Roman Bold"/>
                <a:ea typeface="Times New Roman Bold"/>
                <a:cs typeface="Times New Roman Bold"/>
                <a:sym typeface="Times New Roman Bold"/>
              </a:rPr>
              <a:t>The project is designed to provide the following outcomes:</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An interactive virtual pet dashboard.</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Pet-care actions that modify pet attributes.</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Dynamic pet mood and condition display.</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Persistent storage of pet data using LocalStorage.</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Restoration of saved state between browser visits.</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Time-aware updates based on elapsed time.</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Progression features involving XP, coins and levels.</a:t>
            </a:r>
          </a:p>
          <a:p>
            <a:pPr marL="933784" lvl="1" indent="-466892" algn="l">
              <a:lnSpc>
                <a:spcPts val="6055"/>
              </a:lnSpc>
              <a:spcBef>
                <a:spcPct val="0"/>
              </a:spcBef>
              <a:buAutoNum type="arabicPeriod"/>
            </a:pPr>
            <a:r>
              <a:rPr lang="en-US" sz="4325">
                <a:solidFill>
                  <a:srgbClr val="000000"/>
                </a:solidFill>
                <a:latin typeface="Times New Roman"/>
                <a:ea typeface="Times New Roman"/>
                <a:cs typeface="Times New Roman"/>
                <a:sym typeface="Times New Roman"/>
              </a:rPr>
              <a:t>A responsive interface for different screen sizes.</a:t>
            </a:r>
          </a:p>
        </p:txBody>
      </p:sp>
      <p:sp>
        <p:nvSpPr>
          <p:cNvPr id="4" name="TextBox 4"/>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206928" y="657225"/>
            <a:ext cx="3874145" cy="714375"/>
          </a:xfrm>
          <a:prstGeom prst="rect">
            <a:avLst/>
          </a:prstGeom>
        </p:spPr>
        <p:txBody>
          <a:bodyPr lIns="0" tIns="0" rIns="0" bIns="0" rtlCol="0" anchor="t">
            <a:spAutoFit/>
          </a:bodyPr>
          <a:lstStyle/>
          <a:p>
            <a:pPr algn="ctr">
              <a:lnSpc>
                <a:spcPts val="5400"/>
              </a:lnSpc>
              <a:spcBef>
                <a:spcPct val="0"/>
              </a:spcBef>
            </a:pPr>
            <a:r>
              <a:rPr lang="en-US" sz="4500" b="1">
                <a:solidFill>
                  <a:srgbClr val="000000"/>
                </a:solidFill>
                <a:latin typeface="Times New Roman Bold"/>
                <a:ea typeface="Times New Roman Bold"/>
                <a:cs typeface="Times New Roman Bold"/>
                <a:sym typeface="Times New Roman Bold"/>
              </a:rPr>
              <a:t>CONCLUSION</a:t>
            </a:r>
          </a:p>
        </p:txBody>
      </p:sp>
      <p:sp>
        <p:nvSpPr>
          <p:cNvPr id="3" name="TextBox 3"/>
          <p:cNvSpPr txBox="1"/>
          <p:nvPr/>
        </p:nvSpPr>
        <p:spPr>
          <a:xfrm>
            <a:off x="1189010" y="1658294"/>
            <a:ext cx="15909980" cy="6552359"/>
          </a:xfrm>
          <a:prstGeom prst="rect">
            <a:avLst/>
          </a:prstGeom>
        </p:spPr>
        <p:txBody>
          <a:bodyPr lIns="0" tIns="0" rIns="0" bIns="0" rtlCol="0" anchor="t">
            <a:spAutoFit/>
          </a:bodyPr>
          <a:lstStyle/>
          <a:p>
            <a:pPr algn="just">
              <a:lnSpc>
                <a:spcPts val="6491"/>
              </a:lnSpc>
              <a:spcBef>
                <a:spcPct val="0"/>
              </a:spcBef>
            </a:pPr>
            <a:r>
              <a:rPr lang="en-US" sz="4298">
                <a:solidFill>
                  <a:srgbClr val="000000"/>
                </a:solidFill>
                <a:latin typeface="Times New Roman"/>
                <a:ea typeface="Times New Roman"/>
                <a:cs typeface="Times New Roman"/>
                <a:sym typeface="Times New Roman"/>
              </a:rPr>
              <a:t>The project presents a browser-based virtual pet system that combines interactive gameplay with persistent data storage and time-aware state management. By integrating HTML, CSS, JavaScript and LocalStorage, the application aims to maintain continuity across user sessions while allowing pet attributes to respond to user actions and elapsed time. The project demonstrates the practical application of client-side web development, state management, event handling and browser storage in creating an engaging user experience.</a:t>
            </a:r>
          </a:p>
        </p:txBody>
      </p:sp>
      <p:sp>
        <p:nvSpPr>
          <p:cNvPr id="4" name="TextBox 4"/>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81763" y="585787"/>
            <a:ext cx="3524473" cy="781051"/>
          </a:xfrm>
          <a:prstGeom prst="rect">
            <a:avLst/>
          </a:prstGeom>
        </p:spPr>
        <p:txBody>
          <a:bodyPr lIns="0" tIns="0" rIns="0" bIns="0" rtlCol="0" anchor="t">
            <a:spAutoFit/>
          </a:bodyPr>
          <a:lstStyle/>
          <a:p>
            <a:pPr algn="ctr">
              <a:lnSpc>
                <a:spcPts val="6299"/>
              </a:lnSpc>
              <a:spcBef>
                <a:spcPct val="0"/>
              </a:spcBef>
            </a:pPr>
            <a:r>
              <a:rPr lang="en-US" sz="4499" b="1">
                <a:solidFill>
                  <a:srgbClr val="000000"/>
                </a:solidFill>
                <a:latin typeface="Times New Roman Bold"/>
                <a:ea typeface="Times New Roman Bold"/>
                <a:cs typeface="Times New Roman Bold"/>
                <a:sym typeface="Times New Roman Bold"/>
              </a:rPr>
              <a:t>REFERENCE</a:t>
            </a:r>
          </a:p>
        </p:txBody>
      </p:sp>
      <p:sp>
        <p:nvSpPr>
          <p:cNvPr id="3" name="TextBox 3"/>
          <p:cNvSpPr txBox="1"/>
          <p:nvPr/>
        </p:nvSpPr>
        <p:spPr>
          <a:xfrm>
            <a:off x="1214686" y="1494681"/>
            <a:ext cx="15858628" cy="7126188"/>
          </a:xfrm>
          <a:prstGeom prst="rect">
            <a:avLst/>
          </a:prstGeom>
        </p:spPr>
        <p:txBody>
          <a:bodyPr lIns="0" tIns="0" rIns="0" bIns="0" rtlCol="0" anchor="t">
            <a:spAutoFit/>
          </a:bodyPr>
          <a:lstStyle/>
          <a:p>
            <a:pPr algn="l">
              <a:lnSpc>
                <a:spcPts val="5641"/>
              </a:lnSpc>
              <a:spcBef>
                <a:spcPct val="0"/>
              </a:spcBef>
            </a:pPr>
            <a:r>
              <a:rPr lang="en-US" sz="3461" b="1">
                <a:solidFill>
                  <a:srgbClr val="000000"/>
                </a:solidFill>
                <a:latin typeface="Times New Roman Bold"/>
                <a:ea typeface="Times New Roman Bold"/>
                <a:cs typeface="Times New Roman Bold"/>
                <a:sym typeface="Times New Roman Bold"/>
              </a:rPr>
              <a:t>[1] MDN Web Docs, “HTML: HyperText Markup Language.”</a:t>
            </a:r>
          </a:p>
          <a:p>
            <a:pPr algn="l">
              <a:lnSpc>
                <a:spcPts val="5641"/>
              </a:lnSpc>
              <a:spcBef>
                <a:spcPct val="0"/>
              </a:spcBef>
            </a:pPr>
            <a:r>
              <a:rPr lang="en-US" sz="3461">
                <a:solidFill>
                  <a:srgbClr val="000000"/>
                </a:solidFill>
                <a:latin typeface="Times New Roman"/>
                <a:ea typeface="Times New Roman"/>
                <a:cs typeface="Times New Roman"/>
                <a:sym typeface="Times New Roman"/>
              </a:rPr>
              <a:t>https://developer.mozilla.org/en-US/docs/Web/HTML</a:t>
            </a:r>
          </a:p>
          <a:p>
            <a:pPr algn="l">
              <a:lnSpc>
                <a:spcPts val="5641"/>
              </a:lnSpc>
              <a:spcBef>
                <a:spcPct val="0"/>
              </a:spcBef>
            </a:pPr>
            <a:r>
              <a:rPr lang="en-US" sz="3461" b="1">
                <a:solidFill>
                  <a:srgbClr val="000000"/>
                </a:solidFill>
                <a:latin typeface="Times New Roman Bold"/>
                <a:ea typeface="Times New Roman Bold"/>
                <a:cs typeface="Times New Roman Bold"/>
                <a:sym typeface="Times New Roman Bold"/>
              </a:rPr>
              <a:t>[2] MDN Web Docs, “CSS: Cascading Style Sheets.”</a:t>
            </a:r>
          </a:p>
          <a:p>
            <a:pPr algn="l">
              <a:lnSpc>
                <a:spcPts val="5641"/>
              </a:lnSpc>
              <a:spcBef>
                <a:spcPct val="0"/>
              </a:spcBef>
            </a:pPr>
            <a:r>
              <a:rPr lang="en-US" sz="3461">
                <a:solidFill>
                  <a:srgbClr val="000000"/>
                </a:solidFill>
                <a:latin typeface="Times New Roman"/>
                <a:ea typeface="Times New Roman"/>
                <a:cs typeface="Times New Roman"/>
                <a:sym typeface="Times New Roman"/>
              </a:rPr>
              <a:t>https://developer.mozilla.org/en-US/docs/Web/CSS</a:t>
            </a:r>
          </a:p>
          <a:p>
            <a:pPr algn="l">
              <a:lnSpc>
                <a:spcPts val="5641"/>
              </a:lnSpc>
              <a:spcBef>
                <a:spcPct val="0"/>
              </a:spcBef>
            </a:pPr>
            <a:r>
              <a:rPr lang="en-US" sz="3461" b="1">
                <a:solidFill>
                  <a:srgbClr val="000000"/>
                </a:solidFill>
                <a:latin typeface="Times New Roman Bold"/>
                <a:ea typeface="Times New Roman Bold"/>
                <a:cs typeface="Times New Roman Bold"/>
                <a:sym typeface="Times New Roman Bold"/>
              </a:rPr>
              <a:t>[3] MDN Web Docs, “JavaScript.”</a:t>
            </a:r>
          </a:p>
          <a:p>
            <a:pPr algn="l">
              <a:lnSpc>
                <a:spcPts val="5641"/>
              </a:lnSpc>
              <a:spcBef>
                <a:spcPct val="0"/>
              </a:spcBef>
            </a:pPr>
            <a:r>
              <a:rPr lang="en-US" sz="3461">
                <a:solidFill>
                  <a:srgbClr val="000000"/>
                </a:solidFill>
                <a:latin typeface="Times New Roman"/>
                <a:ea typeface="Times New Roman"/>
                <a:cs typeface="Times New Roman"/>
                <a:sym typeface="Times New Roman"/>
              </a:rPr>
              <a:t>https://developer.mozilla.org/en-US/docs/Web/JavaScript</a:t>
            </a:r>
          </a:p>
          <a:p>
            <a:pPr algn="l">
              <a:lnSpc>
                <a:spcPts val="5641"/>
              </a:lnSpc>
              <a:spcBef>
                <a:spcPct val="0"/>
              </a:spcBef>
            </a:pPr>
            <a:r>
              <a:rPr lang="en-US" sz="3461" b="1">
                <a:solidFill>
                  <a:srgbClr val="000000"/>
                </a:solidFill>
                <a:latin typeface="Times New Roman Bold"/>
                <a:ea typeface="Times New Roman Bold"/>
                <a:cs typeface="Times New Roman Bold"/>
                <a:sym typeface="Times New Roman Bold"/>
              </a:rPr>
              <a:t>[4] MDN Web Docs, “Window: localStorage Property.”</a:t>
            </a:r>
          </a:p>
          <a:p>
            <a:pPr algn="l">
              <a:lnSpc>
                <a:spcPts val="5641"/>
              </a:lnSpc>
              <a:spcBef>
                <a:spcPct val="0"/>
              </a:spcBef>
            </a:pPr>
            <a:r>
              <a:rPr lang="en-US" sz="3461">
                <a:solidFill>
                  <a:srgbClr val="000000"/>
                </a:solidFill>
                <a:latin typeface="Times New Roman"/>
                <a:ea typeface="Times New Roman"/>
                <a:cs typeface="Times New Roman"/>
                <a:sym typeface="Times New Roman"/>
              </a:rPr>
              <a:t>https://developer.mozilla.org/en-US/docs/Web/API/Window/localStorage</a:t>
            </a:r>
          </a:p>
          <a:p>
            <a:pPr algn="l">
              <a:lnSpc>
                <a:spcPts val="5641"/>
              </a:lnSpc>
              <a:spcBef>
                <a:spcPct val="0"/>
              </a:spcBef>
            </a:pPr>
            <a:r>
              <a:rPr lang="en-US" sz="3461" b="1">
                <a:solidFill>
                  <a:srgbClr val="000000"/>
                </a:solidFill>
                <a:latin typeface="Times New Roman Bold"/>
                <a:ea typeface="Times New Roman Bold"/>
                <a:cs typeface="Times New Roman Bold"/>
                <a:sym typeface="Times New Roman Bold"/>
              </a:rPr>
              <a:t>[5] MDN Web Docs, “Date.”</a:t>
            </a:r>
          </a:p>
          <a:p>
            <a:pPr algn="l">
              <a:lnSpc>
                <a:spcPts val="5641"/>
              </a:lnSpc>
              <a:spcBef>
                <a:spcPct val="0"/>
              </a:spcBef>
            </a:pPr>
            <a:r>
              <a:rPr lang="en-US" sz="3461">
                <a:solidFill>
                  <a:srgbClr val="000000"/>
                </a:solidFill>
                <a:latin typeface="Times New Roman"/>
                <a:ea typeface="Times New Roman"/>
                <a:cs typeface="Times New Roman"/>
                <a:sym typeface="Times New Roman"/>
              </a:rPr>
              <a:t>https://developer.mozilla.org/en-US/docs/Web/JavaScript/Reference/Global_Objects/Date</a:t>
            </a:r>
          </a:p>
        </p:txBody>
      </p:sp>
      <p:sp>
        <p:nvSpPr>
          <p:cNvPr id="4" name="TextBox 4"/>
          <p:cNvSpPr txBox="1"/>
          <p:nvPr/>
        </p:nvSpPr>
        <p:spPr>
          <a:xfrm>
            <a:off x="17645602" y="9134475"/>
            <a:ext cx="330250" cy="915670"/>
          </a:xfrm>
          <a:prstGeom prst="rect">
            <a:avLst/>
          </a:prstGeom>
        </p:spPr>
        <p:txBody>
          <a:bodyPr lIns="0" tIns="0" rIns="0" bIns="0" rtlCol="0" anchor="t">
            <a:spAutoFit/>
          </a:bodyPr>
          <a:lstStyle/>
          <a:p>
            <a:pPr algn="ctr">
              <a:lnSpc>
                <a:spcPts val="7279"/>
              </a:lnSpc>
            </a:pPr>
            <a:r>
              <a:rPr lang="en-US" sz="5199">
                <a:solidFill>
                  <a:srgbClr val="000000"/>
                </a:solidFill>
                <a:latin typeface="Times New Roman"/>
                <a:ea typeface="Times New Roman"/>
                <a:cs typeface="Times New Roman"/>
                <a:sym typeface="Times New Roman"/>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pic>
        <p:nvPicPr>
          <p:cNvPr id="3" name="WT Mini Project Presentation">
            <a:hlinkClick r:id="" action="ppaction://media"/>
            <a:extLst>
              <a:ext uri="{FF2B5EF4-FFF2-40B4-BE49-F238E27FC236}">
                <a16:creationId xmlns:a16="http://schemas.microsoft.com/office/drawing/2014/main" id="{7C9E81E2-D30B-72EA-93AF-D6CEEA0D268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046" y="15172"/>
            <a:ext cx="18283954" cy="102847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80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749</Words>
  <Application>Microsoft Office PowerPoint</Application>
  <PresentationFormat>Custom</PresentationFormat>
  <Paragraphs>105</Paragraphs>
  <Slides>11</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Calibri</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WT Mini Project Presentation</dc:title>
  <dc:creator>Lobhas</dc:creator>
  <cp:lastModifiedBy>Lobhas Kulkarni</cp:lastModifiedBy>
  <cp:revision>2</cp:revision>
  <dcterms:created xsi:type="dcterms:W3CDTF">2006-08-16T00:00:00Z</dcterms:created>
  <dcterms:modified xsi:type="dcterms:W3CDTF">2026-10-18T04:01:30Z</dcterms:modified>
  <dc:identifier>DAHXhQT-hqA</dc:identifier>
</cp:coreProperties>
</file>